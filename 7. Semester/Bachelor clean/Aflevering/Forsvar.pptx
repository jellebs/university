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12"/>
  </p:notesMasterIdLst>
  <p:sldIdLst>
    <p:sldId id="257" r:id="rId2"/>
    <p:sldId id="266" r:id="rId3"/>
    <p:sldId id="259" r:id="rId4"/>
    <p:sldId id="265" r:id="rId5"/>
    <p:sldId id="267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08"/>
    <p:restoredTop sz="83061"/>
  </p:normalViewPr>
  <p:slideViewPr>
    <p:cSldViewPr snapToGrid="0">
      <p:cViewPr varScale="1">
        <p:scale>
          <a:sx n="94" d="100"/>
          <a:sy n="94" d="100"/>
        </p:scale>
        <p:origin x="22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DE78D-D53C-184D-8995-31EF56C1BB8A}" type="datetimeFigureOut">
              <a:rPr lang="da-DK" smtClean="0"/>
              <a:t>15.08.2026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6FD78-8854-4841-8ACB-166F1D3BC71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74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6FD78-8854-4841-8ACB-166F1D3BC717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101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Hvad, hvorfor? Problemstillingerne bag</a:t>
            </a:r>
            <a:br>
              <a:rPr lang="da-DK" dirty="0"/>
            </a:br>
            <a:r>
              <a:rPr lang="da-DK" dirty="0"/>
              <a:t>Hvordan? Setup, udstyr og processen bag</a:t>
            </a:r>
            <a:br>
              <a:rPr lang="da-DK" dirty="0"/>
            </a:br>
            <a:r>
              <a:rPr lang="da-DK" dirty="0"/>
              <a:t>Hvad blev resultatet?</a:t>
            </a:r>
            <a:br>
              <a:rPr lang="da-DK" dirty="0"/>
            </a:br>
            <a:r>
              <a:rPr lang="da-DK" dirty="0"/>
              <a:t>Diskussion? Fejl og mangler? / For og imod? Min udledning kontra Lines?  Antagelsen om en uendelig sum af </a:t>
            </a:r>
            <a:r>
              <a:rPr lang="da-DK" dirty="0" err="1"/>
              <a:t>reflektioner</a:t>
            </a:r>
            <a:r>
              <a:rPr lang="da-DK" dirty="0"/>
              <a:t>, når jeg beregner at 6 </a:t>
            </a:r>
            <a:r>
              <a:rPr lang="da-DK" dirty="0" err="1"/>
              <a:t>reflektioner</a:t>
            </a:r>
            <a:r>
              <a:rPr lang="da-DK" dirty="0"/>
              <a:t> rammer til hver tidspoint.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6FD78-8854-4841-8ACB-166F1D3BC717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11189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6FD78-8854-4841-8ACB-166F1D3BC717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5084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36D89-140E-788A-E92D-0EFA73A2F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BCDBE5C-6C40-A4ED-10B1-B3CC9A3DF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EA7B685-5D01-2968-94D1-48006AC9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9B0DBBC-1F03-9CBA-F36A-5181A175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77757C1-ECDD-0D3A-D9A0-E24C51EB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465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E2E6B-0AE6-9195-9DB3-AC134520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7DAF7D-11F4-952D-AF94-8F6A013C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A94E61C-DCDF-418B-ECF4-7241A398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C098769-25EC-DC67-9C5C-BB5B37E4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5DE45E6-BB38-FF15-6742-B6379AF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657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A16BA-3AF5-63A0-24F9-E4C8C0B6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B0B8BCE-5467-D843-F1ED-1B27AA4A8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BA85DDB-D5AF-6DBD-FCC8-34E71511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FC7741-EBDE-B0A6-B7F2-B143DFC5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2C78583-8E9C-A5C4-43C7-2487A734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78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F9479-210A-06B7-1F5E-2D9C9B87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C8D9AD-F513-5E17-982F-47F1D5C62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C7C7F1D-F166-E845-3683-76851B637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D0F4A39-9B75-6D28-5654-769E48CD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D014633-31B0-89C7-52A7-BA74B49F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9EEF9C7-F1F6-71AC-50DD-3A9C0493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63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96F66-7A77-75CF-C635-F90FAF5D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692D734-BDB7-D089-A559-11DA89A2F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45DAB91-126E-7B68-0D98-8C256CFDC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ACA5BF2-B657-D3E7-72BA-896FCE2A4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E097CBE-5A04-748C-418F-258AD0BCC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09B8DED-D006-C4B0-EFE7-FE673BAB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93F4A2E-97AA-4398-86BE-A645DD5D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E837680-369F-72E3-6D01-5E4623FA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429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14F77-93E6-B692-A062-5FE94E4E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5980097-6E8E-829D-DEDA-84207174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8A5A84C-C9C5-8138-B301-A7E178CD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DADE568-6D25-DBA1-25F0-1F4EBA10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42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045BE9B-1B17-5EFD-8DEC-BB46185F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2510A3B-1DAA-910B-9220-7140CF52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93DA0E8-3C8C-ABE3-F7DE-4F92F0BF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680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B500B-9611-B323-5089-06A20AE4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95D2344-7991-F534-6F61-253441FB1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6CF9872-520B-5DDC-EF9A-994130124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3B24DD3-2D69-9FC2-5C17-D9037FDA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70733C3-4D74-2426-159E-B9CC2F25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AAE0AD8-7C46-EF78-F417-7504A28A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387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6F57F-18B9-812A-45C0-47E3A85A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E346278-8834-1DB3-EE21-1DC1ADC31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51948B0-7AFA-E9A6-A7A2-630E420CC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73942F8-4E99-19BD-07DE-DAD4157A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B26217D-1FCA-A061-662B-D9C2B2CA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8698ADD-9B58-F3DF-FC22-499A4204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909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05714-614C-7351-34FA-A15382B2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3945A4E-F4F6-7E7E-95CC-B6AFF96BC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6448358-79E3-2297-AE83-B02D5BE4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77BE773-B4BA-1953-E240-7037124B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F5DF54F-F69C-6465-91BB-C84E00D2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955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EA3B858-0D24-F9B5-95DC-695DAD75E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3F1A780-38E7-1287-5FA5-9C5B44A2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8717498-4FCB-7A35-7061-4390F708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B4E12A5-A017-174C-DD66-6EBEF070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4812A8-F157-95C5-DD07-EAC2F51B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4108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E3C4C07-A300-9A0E-B2FE-1A06846C7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6E42629-8FCF-FB55-AAC5-D4874799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D64EE65-2E89-7AB8-14C8-5EBEAFACE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8/15/26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F220F47-F2EB-E0EC-38EE-C8729800D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C83765-2E08-5FE8-7C87-70526885F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7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toptica.com/downloads/pif/product-info_TOPTICA_teraflash-pro_en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e 17">
            <a:extLst>
              <a:ext uri="{FF2B5EF4-FFF2-40B4-BE49-F238E27FC236}">
                <a16:creationId xmlns:a16="http://schemas.microsoft.com/office/drawing/2014/main" id="{4437934A-02C1-0176-5683-711B21C65F2C}"/>
              </a:ext>
            </a:extLst>
          </p:cNvPr>
          <p:cNvGrpSpPr/>
          <p:nvPr/>
        </p:nvGrpSpPr>
        <p:grpSpPr>
          <a:xfrm>
            <a:off x="6101435" y="3470544"/>
            <a:ext cx="6585864" cy="3430800"/>
            <a:chOff x="0" y="0"/>
            <a:chExt cx="6107919" cy="3097482"/>
          </a:xfrm>
        </p:grpSpPr>
        <p:grpSp>
          <p:nvGrpSpPr>
            <p:cNvPr id="19" name="Gruppe 18">
              <a:extLst>
                <a:ext uri="{FF2B5EF4-FFF2-40B4-BE49-F238E27FC236}">
                  <a16:creationId xmlns:a16="http://schemas.microsoft.com/office/drawing/2014/main" id="{12D7FDEC-920B-8D86-8D70-17D57898897E}"/>
                </a:ext>
              </a:extLst>
            </p:cNvPr>
            <p:cNvGrpSpPr/>
            <p:nvPr/>
          </p:nvGrpSpPr>
          <p:grpSpPr>
            <a:xfrm>
              <a:off x="0" y="1547447"/>
              <a:ext cx="6107919" cy="1550035"/>
              <a:chOff x="0" y="0"/>
              <a:chExt cx="6107919" cy="1550035"/>
            </a:xfrm>
          </p:grpSpPr>
          <p:pic>
            <p:nvPicPr>
              <p:cNvPr id="24" name="Billede 23" descr="Et billede, der indeholder tekst, skærmbillede, display/skærm/fremvisning, linje/række&#10;&#10;Automatisk genereret beskrivelse">
                <a:extLst>
                  <a:ext uri="{FF2B5EF4-FFF2-40B4-BE49-F238E27FC236}">
                    <a16:creationId xmlns:a16="http://schemas.microsoft.com/office/drawing/2014/main" id="{10057F40-7868-8F1C-4FD1-3E1BD7E0BA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70839" y="0"/>
                <a:ext cx="2037080" cy="1550035"/>
              </a:xfrm>
              <a:prstGeom prst="rect">
                <a:avLst/>
              </a:prstGeom>
            </p:spPr>
          </p:pic>
          <p:pic>
            <p:nvPicPr>
              <p:cNvPr id="25" name="Billede 24" descr="Et billede, der indeholder tekst, skærmbillede, linje/række, diagram&#10;&#10;Automatisk genereret beskrivelse">
                <a:extLst>
                  <a:ext uri="{FF2B5EF4-FFF2-40B4-BE49-F238E27FC236}">
                    <a16:creationId xmlns:a16="http://schemas.microsoft.com/office/drawing/2014/main" id="{3AF71711-9ACD-ED50-3BFB-1AF9C226E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1023" y="0"/>
                <a:ext cx="2037080" cy="1550035"/>
              </a:xfrm>
              <a:prstGeom prst="rect">
                <a:avLst/>
              </a:prstGeom>
            </p:spPr>
          </p:pic>
          <p:pic>
            <p:nvPicPr>
              <p:cNvPr id="26" name="Billede 25" descr="Et billede, der indeholder tekst, linje/række, diagram, skærmbillede&#10;&#10;Automatisk genereret beskrivelse">
                <a:extLst>
                  <a:ext uri="{FF2B5EF4-FFF2-40B4-BE49-F238E27FC236}">
                    <a16:creationId xmlns:a16="http://schemas.microsoft.com/office/drawing/2014/main" id="{A819CE79-E266-2CCC-9C33-7DE6F416D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037080" cy="1550035"/>
              </a:xfrm>
              <a:prstGeom prst="rect">
                <a:avLst/>
              </a:prstGeom>
            </p:spPr>
          </p:pic>
        </p:grpSp>
        <p:grpSp>
          <p:nvGrpSpPr>
            <p:cNvPr id="20" name="Gruppe 19">
              <a:extLst>
                <a:ext uri="{FF2B5EF4-FFF2-40B4-BE49-F238E27FC236}">
                  <a16:creationId xmlns:a16="http://schemas.microsoft.com/office/drawing/2014/main" id="{461746DF-75C9-652B-0EEA-674FE48817FB}"/>
                </a:ext>
              </a:extLst>
            </p:cNvPr>
            <p:cNvGrpSpPr/>
            <p:nvPr/>
          </p:nvGrpSpPr>
          <p:grpSpPr>
            <a:xfrm>
              <a:off x="0" y="0"/>
              <a:ext cx="6107919" cy="1550035"/>
              <a:chOff x="0" y="0"/>
              <a:chExt cx="6107919" cy="1550035"/>
            </a:xfrm>
          </p:grpSpPr>
          <p:pic>
            <p:nvPicPr>
              <p:cNvPr id="21" name="Billede 20" descr="Et billede, der indeholder tekst, skærmbillede, Kurve, linje/række&#10;&#10;Automatisk genereret beskrivelse">
                <a:extLst>
                  <a:ext uri="{FF2B5EF4-FFF2-40B4-BE49-F238E27FC236}">
                    <a16:creationId xmlns:a16="http://schemas.microsoft.com/office/drawing/2014/main" id="{7D919394-1E65-031E-A7E1-CABFE126B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70839" y="0"/>
                <a:ext cx="2037080" cy="1550035"/>
              </a:xfrm>
              <a:prstGeom prst="rect">
                <a:avLst/>
              </a:prstGeom>
            </p:spPr>
          </p:pic>
          <p:pic>
            <p:nvPicPr>
              <p:cNvPr id="22" name="Billede 21" descr="Et billede, der indeholder tekst, skærmbillede, linje/række, Kurve&#10;&#10;Automatisk genereret beskrivelse">
                <a:extLst>
                  <a:ext uri="{FF2B5EF4-FFF2-40B4-BE49-F238E27FC236}">
                    <a16:creationId xmlns:a16="http://schemas.microsoft.com/office/drawing/2014/main" id="{BAF10D40-A97B-F54A-A49B-DBCD50122C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31023" y="0"/>
                <a:ext cx="2037080" cy="1550035"/>
              </a:xfrm>
              <a:prstGeom prst="rect">
                <a:avLst/>
              </a:prstGeom>
            </p:spPr>
          </p:pic>
          <p:pic>
            <p:nvPicPr>
              <p:cNvPr id="23" name="Billede 22" descr="Et billede, der indeholder tekst, skærmbillede, diagram, linje/række&#10;&#10;Automatisk genereret beskrivelse">
                <a:extLst>
                  <a:ext uri="{FF2B5EF4-FFF2-40B4-BE49-F238E27FC236}">
                    <a16:creationId xmlns:a16="http://schemas.microsoft.com/office/drawing/2014/main" id="{E3ED7B91-694B-5B14-603E-14351C8E8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037080" cy="1550035"/>
              </a:xfrm>
              <a:prstGeom prst="rect">
                <a:avLst/>
              </a:prstGeom>
            </p:spPr>
          </p:pic>
        </p:grpSp>
      </p:grpSp>
      <p:pic>
        <p:nvPicPr>
          <p:cNvPr id="7" name="Billede 6" descr="Et billede, der indeholder Font/skrifttype, linje/række, Grafik, håndskrift&#10;&#10;Automatisk genereret beskrivelse">
            <a:extLst>
              <a:ext uri="{FF2B5EF4-FFF2-40B4-BE49-F238E27FC236}">
                <a16:creationId xmlns:a16="http://schemas.microsoft.com/office/drawing/2014/main" id="{1C8A4CB3-24C2-A625-6D10-542A70E96F2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48"/>
            <a:ext cx="6098400" cy="34852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Billede 5" descr="Et billede, der indeholder tekst, skærmbillede, linje/række, diagram&#10;&#10;Automatisk genereret beskrivelse">
            <a:extLst>
              <a:ext uri="{FF2B5EF4-FFF2-40B4-BE49-F238E27FC236}">
                <a16:creationId xmlns:a16="http://schemas.microsoft.com/office/drawing/2014/main" id="{3563835D-3420-DA99-23FA-6B11FF925D8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95" y="3470544"/>
            <a:ext cx="6135795" cy="3430800"/>
          </a:xfrm>
          <a:prstGeom prst="rect">
            <a:avLst/>
          </a:prstGeom>
        </p:spPr>
      </p:pic>
      <p:pic>
        <p:nvPicPr>
          <p:cNvPr id="5" name="Billede 4" descr="Et billede, der indeholder tekst, skærmbillede, diagram, grafisk design&#10;&#10;Automatisk genereret beskrivelse">
            <a:extLst>
              <a:ext uri="{FF2B5EF4-FFF2-40B4-BE49-F238E27FC236}">
                <a16:creationId xmlns:a16="http://schemas.microsoft.com/office/drawing/2014/main" id="{6B82EF3E-A406-7452-68E1-C7D3427028E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400" y="-14748"/>
            <a:ext cx="6120129" cy="3489968"/>
          </a:xfrm>
          <a:prstGeom prst="rect">
            <a:avLst/>
          </a:prstGeom>
        </p:spPr>
      </p:pic>
      <p:sp>
        <p:nvSpPr>
          <p:cNvPr id="47" name="Ellipse 46">
            <a:extLst>
              <a:ext uri="{FF2B5EF4-FFF2-40B4-BE49-F238E27FC236}">
                <a16:creationId xmlns:a16="http://schemas.microsoft.com/office/drawing/2014/main" id="{E3F2FD7B-15BD-745E-B142-C0AFDA08ED8F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F0FC60D-CA1C-819C-9686-5058789B47BC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4" name="Billede 43" descr="Et billede, der indeholder diagram, tegning, design&#10;&#10;Automatisk genereret beskrivelse">
            <a:extLst>
              <a:ext uri="{FF2B5EF4-FFF2-40B4-BE49-F238E27FC236}">
                <a16:creationId xmlns:a16="http://schemas.microsoft.com/office/drawing/2014/main" id="{4E74BC2C-A0BB-5366-0D5D-107F342D3ED8}"/>
              </a:ext>
            </a:extLst>
          </p:cNvPr>
          <p:cNvPicPr>
            <a:picLocks/>
          </p:cNvPicPr>
          <p:nvPr/>
        </p:nvPicPr>
        <p:blipFill>
          <a:blip r:embed="rId12">
            <a:alphaModFix amt="10000"/>
          </a:blip>
          <a:srcRect b="24402"/>
          <a:stretch/>
        </p:blipFill>
        <p:spPr>
          <a:xfrm>
            <a:off x="4489508" y="1725472"/>
            <a:ext cx="3427200" cy="3427200"/>
          </a:xfrm>
          <a:prstGeom prst="rect">
            <a:avLst/>
          </a:prstGeom>
        </p:spPr>
      </p:pic>
      <p:pic>
        <p:nvPicPr>
          <p:cNvPr id="4" name="Billede 3" descr="Et billede, der indeholder tekst, Font/skrifttype, Grafik, skærmbillede&#10;&#10;Automatisk genereret beskrivelse">
            <a:extLst>
              <a:ext uri="{FF2B5EF4-FFF2-40B4-BE49-F238E27FC236}">
                <a16:creationId xmlns:a16="http://schemas.microsoft.com/office/drawing/2014/main" id="{99A58BC1-BFC8-CEBB-973F-DDCD9CAFC49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735" t="2710" r="3999" b="25903"/>
          <a:stretch/>
        </p:blipFill>
        <p:spPr>
          <a:xfrm>
            <a:off x="4917580" y="2174929"/>
            <a:ext cx="2356839" cy="2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3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DBE7-73B3-0BA3-08C7-0FAE29D4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C37DD512-6745-942E-6A26-D3FE60B636D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34FFF4E-F75A-6B75-D6AD-A208EF3B1A52}"/>
              </a:ext>
            </a:extLst>
          </p:cNvPr>
          <p:cNvSpPr/>
          <p:nvPr/>
        </p:nvSpPr>
        <p:spPr>
          <a:xfrm>
            <a:off x="2766965" y="98679"/>
            <a:ext cx="6601968" cy="6705078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6467D08-DEC7-1980-4FA7-908FC9C24F3D}"/>
              </a:ext>
            </a:extLst>
          </p:cNvPr>
          <p:cNvSpPr/>
          <p:nvPr/>
        </p:nvSpPr>
        <p:spPr>
          <a:xfrm>
            <a:off x="2785666" y="120843"/>
            <a:ext cx="6601968" cy="6613326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948DB404-B61C-91C7-25F2-EA9AAD58C4F9}"/>
              </a:ext>
            </a:extLst>
          </p:cNvPr>
          <p:cNvSpPr txBox="1">
            <a:spLocks/>
          </p:cNvSpPr>
          <p:nvPr/>
        </p:nvSpPr>
        <p:spPr>
          <a:xfrm>
            <a:off x="4382717" y="1104557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4400" dirty="0">
                <a:solidFill>
                  <a:schemeClr val="bg1"/>
                </a:solidFill>
                <a:latin typeface="Aptos Display" panose="020B0004020202020204" pitchFamily="34" charset="0"/>
              </a:rPr>
              <a:t>Agenda </a:t>
            </a:r>
          </a:p>
        </p:txBody>
      </p:sp>
      <p:sp>
        <p:nvSpPr>
          <p:cNvPr id="9" name="Pladsholder til indhold 2">
            <a:extLst>
              <a:ext uri="{FF2B5EF4-FFF2-40B4-BE49-F238E27FC236}">
                <a16:creationId xmlns:a16="http://schemas.microsoft.com/office/drawing/2014/main" id="{7E144BDF-EC3A-66D1-EB73-D37E4CE0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0" y="2353745"/>
            <a:ext cx="598017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da-DK" dirty="0">
                <a:solidFill>
                  <a:schemeClr val="bg1"/>
                </a:solidFill>
              </a:rPr>
              <a:t>Problemstillinger ( Hvad og hvorfor ) </a:t>
            </a:r>
          </a:p>
          <a:p>
            <a:pPr marL="0" indent="0" algn="ctr">
              <a:buNone/>
            </a:pPr>
            <a:r>
              <a:rPr lang="da-DK" dirty="0">
                <a:solidFill>
                  <a:schemeClr val="bg1"/>
                </a:solidFill>
              </a:rPr>
              <a:t>Tingene bag ( Hvordan ) </a:t>
            </a:r>
          </a:p>
          <a:p>
            <a:pPr marL="0" indent="0" algn="ctr">
              <a:buNone/>
            </a:pPr>
            <a:r>
              <a:rPr lang="da-DK" dirty="0">
                <a:solidFill>
                  <a:schemeClr val="bg1"/>
                </a:solidFill>
              </a:rPr>
              <a:t>Udbyttet </a:t>
            </a:r>
          </a:p>
          <a:p>
            <a:pPr marL="0" indent="0" algn="ctr">
              <a:buNone/>
            </a:pPr>
            <a:r>
              <a:rPr lang="da-DK" dirty="0">
                <a:solidFill>
                  <a:schemeClr val="bg1"/>
                </a:solidFill>
              </a:rPr>
              <a:t>Diskussion</a:t>
            </a:r>
          </a:p>
          <a:p>
            <a:pPr marL="0" indent="0" algn="ctr">
              <a:buNone/>
            </a:pPr>
            <a:r>
              <a:rPr lang="da-DK" dirty="0">
                <a:solidFill>
                  <a:schemeClr val="bg1"/>
                </a:solidFill>
              </a:rPr>
              <a:t>Slutord til projektet</a:t>
            </a:r>
          </a:p>
        </p:txBody>
      </p:sp>
    </p:spTree>
    <p:extLst>
      <p:ext uri="{BB962C8B-B14F-4D97-AF65-F5344CB8AC3E}">
        <p14:creationId xmlns:p14="http://schemas.microsoft.com/office/powerpoint/2010/main" val="1310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AEFB1DE0-2CED-2565-C3B9-3F696B01337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A23A12-6E6B-FB7B-6CAF-C4B66EA9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Problemstillingerne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0F4B403-50A3-1AFC-BF2C-5CB61C2BA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Hvad? 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Analyse af solcellens nanostruktur</a:t>
            </a: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2947C7C-40A3-EB33-DCFE-8A57449CAD67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A41AF1C-3542-A8B2-F174-B2509E1E1CFB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indhold 2">
            <a:extLst>
              <a:ext uri="{FF2B5EF4-FFF2-40B4-BE49-F238E27FC236}">
                <a16:creationId xmlns:a16="http://schemas.microsoft.com/office/drawing/2014/main" id="{8B1A7C7E-1E76-EADB-2AB1-CEB46A25B461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Hvorfor? ( Motivationen )</a:t>
            </a:r>
          </a:p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Optimering af solceller</a:t>
            </a:r>
          </a:p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Grønne motiver.  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1F3FC8D2-2084-9CF9-FB13-E52EDDFADE90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291095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4ABB-BCCB-9C82-8020-801E8457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60F022BF-0925-B719-B1F3-B575A1EFB8E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4BCD53-49CE-F46D-FA1D-E2B29287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Problemstillingerne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55158A-B41A-45F6-A545-E0C3A63F2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Hvad? 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Brug af industrielt anvendte </a:t>
            </a:r>
            <a:br>
              <a:rPr lang="da-DK" dirty="0">
                <a:solidFill>
                  <a:schemeClr val="bg1"/>
                </a:solidFill>
              </a:rPr>
            </a:br>
            <a:r>
              <a:rPr lang="da-DK" dirty="0">
                <a:solidFill>
                  <a:schemeClr val="bg1"/>
                </a:solidFill>
              </a:rPr>
              <a:t>lysbølger. </a:t>
            </a: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A147AA4-5AEC-695B-E0D2-807B044B6AE9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E3AA7E9-9E8D-FAB3-3BE9-B587E22109F8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indhold 2">
            <a:extLst>
              <a:ext uri="{FF2B5EF4-FFF2-40B4-BE49-F238E27FC236}">
                <a16:creationId xmlns:a16="http://schemas.microsoft.com/office/drawing/2014/main" id="{08EBB1FC-3300-69FA-3BA7-AE8858838CD2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Hvorfor? ( Motivationen )</a:t>
            </a:r>
          </a:p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Alternativer byder på langsomme prøver, med destruktive udfald 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0F6FDE96-94C5-E558-1B8C-0122EA7283C8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242560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EAE7-78D9-92B3-BF0C-5CA3188F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44336A77-0FFC-BC00-FF17-EA97335D6B3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C6C73E7-54E1-B3B4-2C74-E9AACBC7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Problemstillingerne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7C8140-1F0E-720A-DE82-028922E9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Hvad? </a:t>
            </a:r>
          </a:p>
          <a:p>
            <a:pPr marL="0" indent="0">
              <a:buNone/>
            </a:pPr>
            <a:r>
              <a:rPr lang="da-DK" dirty="0">
                <a:solidFill>
                  <a:schemeClr val="bg1"/>
                </a:solidFill>
              </a:rPr>
              <a:t>Brug af </a:t>
            </a:r>
            <a:r>
              <a:rPr lang="da-DK" dirty="0" err="1">
                <a:solidFill>
                  <a:schemeClr val="bg1"/>
                </a:solidFill>
              </a:rPr>
              <a:t>forskydelse</a:t>
            </a:r>
            <a:r>
              <a:rPr lang="da-DK" dirty="0">
                <a:solidFill>
                  <a:schemeClr val="bg1"/>
                </a:solidFill>
              </a:rPr>
              <a:t> af lys</a:t>
            </a:r>
          </a:p>
          <a:p>
            <a:pPr marL="0" indent="0">
              <a:buNone/>
            </a:pP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FA6354B-086F-78CC-F523-2C7A762566A5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95E6FCA-5454-EEA8-99AF-2CF9C48FF2A3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Pladsholder til indhold 2">
            <a:extLst>
              <a:ext uri="{FF2B5EF4-FFF2-40B4-BE49-F238E27FC236}">
                <a16:creationId xmlns:a16="http://schemas.microsoft.com/office/drawing/2014/main" id="{40913723-8B0D-B53B-36C2-091A7F364438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Hvorfor? ( Motivationen )</a:t>
            </a:r>
          </a:p>
          <a:p>
            <a:pPr marL="0" indent="0" algn="r">
              <a:buNone/>
            </a:pPr>
            <a:r>
              <a:rPr lang="da-DK" dirty="0">
                <a:solidFill>
                  <a:srgbClr val="262626"/>
                </a:solidFill>
              </a:rPr>
              <a:t>Elektronik har begrænsninger noget langsommere end selve signalet vi ønsker.   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C1C3E68A-D687-E4FC-9781-B75B89E4ECC2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5171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C8BB18A-13EC-67A0-718F-F9893ADD700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88BF879-415F-98E6-8EC0-B95AB150D6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bg1"/>
                </a:solidFill>
              </a:rPr>
              <a:t>Tingene bag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239AF3F6-7736-04E4-BEAF-0AEFD592A7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52578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dirty="0">
                    <a:solidFill>
                      <a:schemeClr val="bg1"/>
                    </a:solidFill>
                  </a:rPr>
                  <a:t>Setuppet ( Udstyr, </a:t>
                </a:r>
                <a:r>
                  <a:rPr lang="da-DK" dirty="0" err="1">
                    <a:solidFill>
                      <a:schemeClr val="bg1"/>
                    </a:solidFill>
                  </a:rPr>
                  <a:t>schematics</a:t>
                </a:r>
                <a:r>
                  <a:rPr lang="da-DK" dirty="0">
                    <a:solidFill>
                      <a:schemeClr val="bg1"/>
                    </a:solidFill>
                  </a:rPr>
                  <a:t> og andet. </a:t>
                </a:r>
              </a:p>
              <a:p>
                <a:pPr marL="0" indent="0">
                  <a:buNone/>
                </a:pPr>
                <a:r>
                  <a:rPr lang="da-DK" dirty="0" err="1">
                    <a:solidFill>
                      <a:schemeClr val="bg1"/>
                    </a:solidFill>
                  </a:rPr>
                  <a:t>Teraflash</a:t>
                </a:r>
                <a:r>
                  <a:rPr lang="da-DK" dirty="0">
                    <a:solidFill>
                      <a:schemeClr val="bg1"/>
                    </a:solidFill>
                  </a:rPr>
                  <a:t> pro: </a:t>
                </a:r>
              </a:p>
              <a:p>
                <a:pPr marL="0" indent="0">
                  <a:buNone/>
                </a:pPr>
                <a:r>
                  <a:rPr lang="da-DK" dirty="0">
                    <a:solidFill>
                      <a:schemeClr val="bg1"/>
                    </a:solidFill>
                  </a:rPr>
                  <a:t>0,1 – 6 THz båndbredde</a:t>
                </a:r>
              </a:p>
              <a:p>
                <a:pPr marL="0" indent="0">
                  <a:buNone/>
                </a:pPr>
                <a:r>
                  <a:rPr lang="da-DK" dirty="0">
                    <a:solidFill>
                      <a:schemeClr val="bg1"/>
                    </a:solidFill>
                  </a:rPr>
                  <a:t>2 </a:t>
                </a:r>
                <a:r>
                  <a:rPr lang="da-DK" dirty="0" err="1">
                    <a:solidFill>
                      <a:schemeClr val="bg1"/>
                    </a:solidFill>
                  </a:rPr>
                  <a:t>delay</a:t>
                </a:r>
                <a:r>
                  <a:rPr lang="da-DK" dirty="0">
                    <a:solidFill>
                      <a:schemeClr val="bg1"/>
                    </a:solidFill>
                  </a:rPr>
                  <a:t> stages ( </a:t>
                </a:r>
                <a:r>
                  <a:rPr lang="da-DK" dirty="0" err="1">
                    <a:solidFill>
                      <a:schemeClr val="bg1"/>
                    </a:solidFill>
                  </a:rPr>
                  <a:t>Stationary</a:t>
                </a:r>
                <a:r>
                  <a:rPr lang="da-DK" dirty="0">
                    <a:solidFill>
                      <a:schemeClr val="bg1"/>
                    </a:solidFill>
                  </a:rPr>
                  <a:t> and </a:t>
                </a:r>
                <a:r>
                  <a:rPr lang="da-DK" dirty="0" err="1">
                    <a:solidFill>
                      <a:schemeClr val="bg1"/>
                    </a:solidFill>
                  </a:rPr>
                  <a:t>moving</a:t>
                </a:r>
                <a:r>
                  <a:rPr lang="da-DK" dirty="0">
                    <a:solidFill>
                      <a:schemeClr val="bg1"/>
                    </a:solidFill>
                  </a:rPr>
                  <a:t> 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=1560, </m:t>
                    </m:r>
                    <m:sSub>
                      <m:sSubPr>
                        <m:ctrlP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𝑝𝑢𝑙𝑠𝑒</m:t>
                        </m:r>
                      </m:sub>
                    </m:sSub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=50−80</m:t>
                    </m:r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𝑓𝑠</m:t>
                    </m:r>
                  </m:oMath>
                </a14:m>
                <a:r>
                  <a:rPr lang="da-DK" b="0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𝑠𝑐𝑎𝑛</m:t>
                        </m:r>
                      </m:sub>
                    </m:sSub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a-DK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a-DK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166</m:t>
                              </m:r>
                            </m:e>
                          </m:mr>
                          <m:mr>
                            <m:e>
                              <m:r>
                                <a:rPr lang="da-DK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95</m:t>
                              </m:r>
                            </m:e>
                          </m:mr>
                          <m:mr>
                            <m:e>
                              <m:r>
                                <a:rPr lang="da-DK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</m:mr>
                          <m:mr>
                            <m:e>
                              <m:r>
                                <a:rPr lang="da-DK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da-DK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a-DK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𝑡𝑟𝑎𝑐𝑒𝑠</m:t>
                            </m:r>
                          </m:num>
                          <m:den>
                            <m:r>
                              <a:rPr lang="da-DK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r>
                  <a:rPr lang="da-DK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da-DK" dirty="0">
                    <a:solidFill>
                      <a:schemeClr val="bg1"/>
                    </a:solidFill>
                    <a:hlinkClick r:id="rId2"/>
                  </a:rPr>
                  <a:t>https://www.toptica.com/downloads/pif/product-info_TOPTICA_teraflash-pro_en.pdf</a:t>
                </a:r>
                <a:r>
                  <a:rPr lang="da-DK">
                    <a:solidFill>
                      <a:schemeClr val="bg1"/>
                    </a:solidFill>
                  </a:rPr>
                  <a:t> </a:t>
                </a:r>
                <a:endParaRPr lang="da-DK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Pladsholder til indhold 2">
                <a:extLst>
                  <a:ext uri="{FF2B5EF4-FFF2-40B4-BE49-F238E27FC236}">
                    <a16:creationId xmlns:a16="http://schemas.microsoft.com/office/drawing/2014/main" id="{239AF3F6-7736-04E4-BEAF-0AEFD592A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5257800" cy="4351338"/>
              </a:xfrm>
              <a:prstGeom prst="rect">
                <a:avLst/>
              </a:prstGeom>
              <a:blipFill>
                <a:blip r:embed="rId3"/>
                <a:stretch>
                  <a:fillRect l="-1446" t="-2616" r="-144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lipse 6">
            <a:extLst>
              <a:ext uri="{FF2B5EF4-FFF2-40B4-BE49-F238E27FC236}">
                <a16:creationId xmlns:a16="http://schemas.microsoft.com/office/drawing/2014/main" id="{06DAFB67-EDFE-C139-58E9-E34CF720D8BF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FC8631B-6150-040D-DF87-C763A0911625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E8A87AE7-379F-1C57-CCDC-15342ADC0331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a-DK" dirty="0">
                <a:solidFill>
                  <a:srgbClr val="262626"/>
                </a:solidFill>
              </a:rPr>
              <a:t>Processerne</a:t>
            </a:r>
          </a:p>
        </p:txBody>
      </p:sp>
      <p:sp>
        <p:nvSpPr>
          <p:cNvPr id="13" name="Pladsholder til indhold 2">
            <a:extLst>
              <a:ext uri="{FF2B5EF4-FFF2-40B4-BE49-F238E27FC236}">
                <a16:creationId xmlns:a16="http://schemas.microsoft.com/office/drawing/2014/main" id="{D53FFB41-CA01-6BE7-6EA5-D18EBA16A125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281885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090A2E2-7355-1992-A978-2FC0D9C03BC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7D9A7B7-9952-58E3-0EE4-2D623AEFA90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bg1"/>
                </a:solidFill>
              </a:rPr>
              <a:t>Udbyttet</a:t>
            </a:r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EBEF3251-6F5E-52A0-A6FB-EA67F64A9E7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chemeClr val="bg1"/>
                </a:solidFill>
              </a:rPr>
              <a:t>Data som tydeligt sås tidsforsinket i forhold til teorien om en gradient flade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B6C837-3535-4D0F-9700-D1FFD4493997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486B2D0-C384-822B-B077-95FEB610E463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2912C98-4998-0141-21F4-345370194ADD}"/>
              </a:ext>
            </a:extLst>
          </p:cNvPr>
          <p:cNvSpPr txBox="1">
            <a:spLocks/>
          </p:cNvSpPr>
          <p:nvPr/>
        </p:nvSpPr>
        <p:spPr>
          <a:xfrm>
            <a:off x="6441831" y="345060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D4A6C03D-AD0C-9E6C-1E47-3660B239815C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a-DK" dirty="0">
                <a:solidFill>
                  <a:srgbClr val="262626"/>
                </a:solidFill>
              </a:rPr>
              <a:t>Tydeligt beskrevet udregning for ren silicium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4281B2D9-2567-D2C2-1AF8-9FB9D19A3F4C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123559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739AD-B889-80C1-DCD6-020CA358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074A46B2-C96A-0936-0281-F964E8B87B2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C9B6D6C-AFB2-DAB9-72EB-8D813764C89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bg1"/>
                </a:solidFill>
              </a:rPr>
              <a:t>Udbyttet</a:t>
            </a:r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612EEBDB-A025-9E3E-71D2-83CC7D4F235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chemeClr val="bg1"/>
                </a:solidFill>
              </a:rPr>
              <a:t>Setup opsat som hurtigt kan konfigureres til en opstilling af x samples.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D7C8C69-FF4E-DA8F-4D1A-8C49B3DDC75B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DF9AD54-8B46-22D8-F4C0-4E71E2D13C43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E38A23F9-FCA8-912A-D39E-CA48AF90BCD9}"/>
              </a:ext>
            </a:extLst>
          </p:cNvPr>
          <p:cNvSpPr txBox="1">
            <a:spLocks/>
          </p:cNvSpPr>
          <p:nvPr/>
        </p:nvSpPr>
        <p:spPr>
          <a:xfrm>
            <a:off x="6441831" y="345060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06E52181-670E-C3CF-764E-C5CD06E8865D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a-DK" dirty="0">
                <a:solidFill>
                  <a:srgbClr val="262626"/>
                </a:solidFill>
              </a:rPr>
              <a:t>Processerne</a:t>
            </a:r>
          </a:p>
        </p:txBody>
      </p:sp>
      <p:sp>
        <p:nvSpPr>
          <p:cNvPr id="12" name="Pladsholder til indhold 2">
            <a:extLst>
              <a:ext uri="{FF2B5EF4-FFF2-40B4-BE49-F238E27FC236}">
                <a16:creationId xmlns:a16="http://schemas.microsoft.com/office/drawing/2014/main" id="{8995E636-44AA-D384-55DC-6DE58BCCF205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103445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ktangel 16">
            <a:extLst>
              <a:ext uri="{FF2B5EF4-FFF2-40B4-BE49-F238E27FC236}">
                <a16:creationId xmlns:a16="http://schemas.microsoft.com/office/drawing/2014/main" id="{F1DD3FC7-B314-27EA-362D-8EB84B54E61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97B9A32-648B-4511-C99E-4EB7E4A6E0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bg1"/>
                </a:solidFill>
              </a:rPr>
              <a:t>Diskussion</a:t>
            </a:r>
          </a:p>
        </p:txBody>
      </p:sp>
      <p:sp>
        <p:nvSpPr>
          <p:cNvPr id="19" name="Pladsholder til indhold 2">
            <a:extLst>
              <a:ext uri="{FF2B5EF4-FFF2-40B4-BE49-F238E27FC236}">
                <a16:creationId xmlns:a16="http://schemas.microsoft.com/office/drawing/2014/main" id="{93D61B75-8BF7-C5FC-FCAD-D9EDA663145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>
                <a:solidFill>
                  <a:schemeClr val="bg1"/>
                </a:solidFill>
              </a:rPr>
              <a:t>Setup opsat som hurtigt kan konfigureres til en opstilling af x samples.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AC13A42-7E98-2601-6F7C-43ED1AF7A19B}"/>
              </a:ext>
            </a:extLst>
          </p:cNvPr>
          <p:cNvSpPr/>
          <p:nvPr/>
        </p:nvSpPr>
        <p:spPr>
          <a:xfrm>
            <a:off x="4373367" y="1670623"/>
            <a:ext cx="3434400" cy="3482049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1CFD126-648A-0C0F-D663-74B720EF9AFB}"/>
              </a:ext>
            </a:extLst>
          </p:cNvPr>
          <p:cNvSpPr/>
          <p:nvPr/>
        </p:nvSpPr>
        <p:spPr>
          <a:xfrm>
            <a:off x="4392068" y="1670623"/>
            <a:ext cx="3434400" cy="3434400"/>
          </a:xfrm>
          <a:prstGeom prst="ellipse">
            <a:avLst/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4E71F7AE-A842-C22F-C646-045EAB983F6F}"/>
              </a:ext>
            </a:extLst>
          </p:cNvPr>
          <p:cNvSpPr txBox="1">
            <a:spLocks/>
          </p:cNvSpPr>
          <p:nvPr/>
        </p:nvSpPr>
        <p:spPr>
          <a:xfrm>
            <a:off x="6441831" y="345060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a-DK" dirty="0"/>
          </a:p>
        </p:txBody>
      </p:sp>
      <p:sp>
        <p:nvSpPr>
          <p:cNvPr id="23" name="Pladsholder til indhold 2">
            <a:extLst>
              <a:ext uri="{FF2B5EF4-FFF2-40B4-BE49-F238E27FC236}">
                <a16:creationId xmlns:a16="http://schemas.microsoft.com/office/drawing/2014/main" id="{BF7D2348-F9A4-F0CC-99A6-7177D87CC2AA}"/>
              </a:ext>
            </a:extLst>
          </p:cNvPr>
          <p:cNvSpPr txBox="1">
            <a:spLocks/>
          </p:cNvSpPr>
          <p:nvPr/>
        </p:nvSpPr>
        <p:spPr>
          <a:xfrm>
            <a:off x="6441831" y="180556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a-DK" dirty="0">
                <a:solidFill>
                  <a:srgbClr val="262626"/>
                </a:solidFill>
              </a:rPr>
              <a:t>Processerne</a:t>
            </a:r>
          </a:p>
        </p:txBody>
      </p:sp>
      <p:sp>
        <p:nvSpPr>
          <p:cNvPr id="24" name="Pladsholder til indhold 2">
            <a:extLst>
              <a:ext uri="{FF2B5EF4-FFF2-40B4-BE49-F238E27FC236}">
                <a16:creationId xmlns:a16="http://schemas.microsoft.com/office/drawing/2014/main" id="{72704359-ECD0-B784-BC37-9868D5836824}"/>
              </a:ext>
            </a:extLst>
          </p:cNvPr>
          <p:cNvSpPr txBox="1">
            <a:spLocks/>
          </p:cNvSpPr>
          <p:nvPr/>
        </p:nvSpPr>
        <p:spPr>
          <a:xfrm>
            <a:off x="4392068" y="2787053"/>
            <a:ext cx="3415699" cy="1249188"/>
          </a:xfrm>
          <a:prstGeom prst="rect">
            <a:avLst/>
          </a:prstGeom>
        </p:spPr>
        <p:txBody>
          <a:bodyPr vert="horz" lIns="91440" tIns="90000" rIns="9144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Problemstillinger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Tingene bag</a:t>
            </a:r>
          </a:p>
          <a:p>
            <a:pPr marL="0" indent="0" algn="ctr">
              <a:buNone/>
            </a:pPr>
            <a:r>
              <a:rPr lang="da-DK" sz="1000" dirty="0">
                <a:solidFill>
                  <a:srgbClr val="FFFFFF">
                    <a:alpha val="30000"/>
                  </a:srgbClr>
                </a:solidFill>
              </a:rPr>
              <a:t>Udbyttet</a:t>
            </a:r>
          </a:p>
          <a:p>
            <a:pPr marL="0" indent="0" algn="ctr">
              <a:buNone/>
            </a:pPr>
            <a:r>
              <a:rPr lang="da-DK" sz="2000" dirty="0">
                <a:solidFill>
                  <a:srgbClr val="FFFFFF">
                    <a:alpha val="30000"/>
                  </a:srgbClr>
                </a:solidFill>
              </a:rPr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134189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37AC8-0492-740F-88C7-A9130017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Slutord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FD3F009-8778-8B5F-35D0-3379ADBE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Jeg brugte Lines formel til at beregne for K x K x K af variationer, for M samples, til L forskellige typer. Jeg gad godt prøve med min opdaterede formel og se, hvordan tendensen så ser ud i en </a:t>
            </a:r>
            <a:r>
              <a:rPr lang="da-DK" dirty="0" err="1"/>
              <a:t>gaussian</a:t>
            </a:r>
            <a:r>
              <a:rPr lang="da-DK" dirty="0"/>
              <a:t> fordeling. </a:t>
            </a:r>
          </a:p>
          <a:p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430953BE-2FF7-010D-7056-655840A7527C}"/>
              </a:ext>
            </a:extLst>
          </p:cNvPr>
          <p:cNvSpPr txBox="1"/>
          <p:nvPr/>
        </p:nvSpPr>
        <p:spPr>
          <a:xfrm>
            <a:off x="2101361" y="4336758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Fejl og mangler? / For og imod? Min udledning kontra Lines?  Antagelsen om en uendelig sum af </a:t>
            </a:r>
            <a:r>
              <a:rPr lang="da-DK" dirty="0" err="1"/>
              <a:t>reflektioner</a:t>
            </a:r>
            <a:r>
              <a:rPr lang="da-DK" dirty="0"/>
              <a:t>, når jeg </a:t>
            </a:r>
            <a:r>
              <a:rPr lang="da-DK" dirty="0" err="1"/>
              <a:t>be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2679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361</Words>
  <Application>Microsoft Macintosh PowerPoint</Application>
  <PresentationFormat>Widescreen</PresentationFormat>
  <Paragraphs>75</Paragraphs>
  <Slides>10</Slides>
  <Notes>3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Office-tema</vt:lpstr>
      <vt:lpstr>PowerPoint-præsentation</vt:lpstr>
      <vt:lpstr>PowerPoint-præsentation</vt:lpstr>
      <vt:lpstr>Problemstillingerne</vt:lpstr>
      <vt:lpstr>Problemstillingerne</vt:lpstr>
      <vt:lpstr>Problemstillingerne</vt:lpstr>
      <vt:lpstr>PowerPoint-præsentation</vt:lpstr>
      <vt:lpstr>PowerPoint-præsentation</vt:lpstr>
      <vt:lpstr>PowerPoint-præsentation</vt:lpstr>
      <vt:lpstr>PowerPoint-præsentation</vt:lpstr>
      <vt:lpstr>Slutord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Graungaard Bertelsen</dc:creator>
  <cp:lastModifiedBy>Jesper Graungaard Bertelsen</cp:lastModifiedBy>
  <cp:revision>10</cp:revision>
  <dcterms:created xsi:type="dcterms:W3CDTF">2026-08-13T12:04:43Z</dcterms:created>
  <dcterms:modified xsi:type="dcterms:W3CDTF">2026-08-15T10:30:36Z</dcterms:modified>
</cp:coreProperties>
</file>